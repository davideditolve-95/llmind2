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707e61f6d638435b" Type="http://schemas.openxmlformats.org/package/2006/relationships/metadata/core-properties" Target="docProps/core.xml"/><Relationship Id="R71f89db7f05245b9" Type="http://schemas.openxmlformats.org/officeDocument/2006/relationships/officeDocument" Target="ppt/presentation.xml"/><Relationship Id="Ree2301be48ac4b66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6c78a0658247c3"/>
  </p:sldMasterIdLst>
  <p:notesMasterIdLst>
    <p:notesMasterId xmlns:r="http://schemas.openxmlformats.org/officeDocument/2006/relationships" r:id="Rd082d2052c334882"/>
  </p:notesMasterIdLst>
  <p:sldIdLst>
    <p:sldId xmlns:r="http://schemas.openxmlformats.org/officeDocument/2006/relationships" id="256" r:id="R1d1fba0a0fed4bb9"/>
    <p:sldId xmlns:r="http://schemas.openxmlformats.org/officeDocument/2006/relationships" id="257" r:id="Rc354cba204704d81"/>
    <p:sldId xmlns:r="http://schemas.openxmlformats.org/officeDocument/2006/relationships" id="258" r:id="R4f82c4290dd5465b"/>
    <p:sldId xmlns:r="http://schemas.openxmlformats.org/officeDocument/2006/relationships" id="259" r:id="Rb80d6d3250d54b9b"/>
    <p:sldId xmlns:r="http://schemas.openxmlformats.org/officeDocument/2006/relationships" id="260" r:id="R39b4ce7aeee7430c"/>
    <p:sldId xmlns:r="http://schemas.openxmlformats.org/officeDocument/2006/relationships" id="261" r:id="R1065eb28cac340b2"/>
    <p:sldId xmlns:r="http://schemas.openxmlformats.org/officeDocument/2006/relationships" id="262" r:id="R965831824d5e4a20"/>
    <p:sldId xmlns:r="http://schemas.openxmlformats.org/officeDocument/2006/relationships" id="263" r:id="R20e18072d0544fb6"/>
    <p:sldId xmlns:r="http://schemas.openxmlformats.org/officeDocument/2006/relationships" id="264" r:id="Rb2d1f5429ee84ddc"/>
    <p:sldId xmlns:r="http://schemas.openxmlformats.org/officeDocument/2006/relationships" id="265" r:id="R90e3b6c0adaa4de3"/>
    <p:sldId xmlns:r="http://schemas.openxmlformats.org/officeDocument/2006/relationships" id="266" r:id="Rfa5d06d7e025461a"/>
    <p:sldId xmlns:r="http://schemas.openxmlformats.org/officeDocument/2006/relationships" id="267" r:id="R21ed6e61ff1a4f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065eb28cac340b2" Type="http://schemas.openxmlformats.org/officeDocument/2006/relationships/slide" Target="slides/slide6.xml"/><Relationship Id="R1d1fba0a0fed4bb9" Type="http://schemas.openxmlformats.org/officeDocument/2006/relationships/slide" Target="slides/slide1.xml"/><Relationship Id="R1d80f2812cc54ba2" Type="http://schemas.openxmlformats.org/officeDocument/2006/relationships/presProps" Target="presProps.xml"/><Relationship Id="R20e18072d0544fb6" Type="http://schemas.openxmlformats.org/officeDocument/2006/relationships/slide" Target="slides/slide8.xml"/><Relationship Id="R21ed6e61ff1a4f71" Type="http://schemas.openxmlformats.org/officeDocument/2006/relationships/slide" Target="slides/slide12.xml"/><Relationship Id="R39b4ce7aeee7430c" Type="http://schemas.openxmlformats.org/officeDocument/2006/relationships/slide" Target="slides/slide5.xml"/><Relationship Id="R44d5a3d3cfc14062" Type="http://schemas.openxmlformats.org/officeDocument/2006/relationships/theme" Target="theme/theme1.xml"/><Relationship Id="R4f82c4290dd5465b" Type="http://schemas.openxmlformats.org/officeDocument/2006/relationships/slide" Target="slides/slide3.xml"/><Relationship Id="R90e3b6c0adaa4de3" Type="http://schemas.openxmlformats.org/officeDocument/2006/relationships/slide" Target="slides/slide10.xml"/><Relationship Id="R965831824d5e4a20" Type="http://schemas.openxmlformats.org/officeDocument/2006/relationships/slide" Target="slides/slide7.xml"/><Relationship Id="Rb2d1f5429ee84ddc" Type="http://schemas.openxmlformats.org/officeDocument/2006/relationships/slide" Target="slides/slide9.xml"/><Relationship Id="Rb66c78a0658247c3" Type="http://schemas.openxmlformats.org/officeDocument/2006/relationships/slideMaster" Target="slideMasters/slideMaster1.xml"/><Relationship Id="Rb80d6d3250d54b9b" Type="http://schemas.openxmlformats.org/officeDocument/2006/relationships/slide" Target="slides/slide4.xml"/><Relationship Id="Rc354cba204704d81" Type="http://schemas.openxmlformats.org/officeDocument/2006/relationships/slide" Target="slides/slide2.xml"/><Relationship Id="Rd082d2052c334882" Type="http://schemas.openxmlformats.org/officeDocument/2006/relationships/notesMaster" Target="notesMasters/notesMaster1.xml"/><Relationship Id="Rdd44d34521604c5e" Type="http://schemas.openxmlformats.org/officeDocument/2006/relationships/tableStyles" Target="tableStyles.xml"/><Relationship Id="Rfa5d06d7e025461a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6181863067f3468a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f670220d93849ac" Type="http://schemas.openxmlformats.org/officeDocument/2006/relationships/notesMaster" Target="../notesMasters/notesMaster1.xml"/><Relationship Id="Ra0dda2c90eb24b08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c80617452e4422b" Type="http://schemas.openxmlformats.org/officeDocument/2006/relationships/notesMaster" Target="../notesMasters/notesMaster1.xml"/><Relationship Id="R667cdf2a3a3e45c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b8c337abed17401b" Type="http://schemas.openxmlformats.org/officeDocument/2006/relationships/slide" Target="../slides/slide3.xml"/><Relationship Id="Rf5d9be0e71c3485b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1d7d7719f534d93" Type="http://schemas.openxmlformats.org/officeDocument/2006/relationships/slide" Target="../slides/slide4.xml"/><Relationship Id="R90bd2da9163c4248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574392c256be4fe6" Type="http://schemas.openxmlformats.org/officeDocument/2006/relationships/slide" Target="../slides/slide5.xml"/><Relationship Id="Rc3a64beac09e4a9b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50875cac34f1413e" Type="http://schemas.openxmlformats.org/officeDocument/2006/relationships/notesMaster" Target="../notesMasters/notesMaster1.xml"/><Relationship Id="Re6546a68d4ae4d9f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21a071cbe69d4c9d" Type="http://schemas.openxmlformats.org/officeDocument/2006/relationships/slide" Target="../slides/slide7.xml"/><Relationship Id="Rf37e3be44537459d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30e60678fd44d40" Type="http://schemas.openxmlformats.org/officeDocument/2006/relationships/slide" Target="../slides/slide8.xml"/><Relationship Id="Rb7497cefb935486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dbbb37fbec9472c" Type="http://schemas.openxmlformats.org/officeDocument/2006/relationships/slide" Target="../slides/slide9.xml"/><Relationship Id="R7fc723f646fc45e3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95bbbfa96134629" Type="http://schemas.openxmlformats.org/officeDocument/2006/relationships/slide" Target="../slides/slide10.xml"/><Relationship Id="R6d2cf65290ef44d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5a1069dba3914276" Type="http://schemas.openxmlformats.org/officeDocument/2006/relationships/slide" Target="../slides/slide11.xml"/><Relationship Id="Rb6e059165596429f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61e7ee741dc340e8" Type="http://schemas.openxmlformats.org/officeDocument/2006/relationships/notesMaster" Target="../notesMasters/notesMaster1.xml"/><Relationship Id="Rbd9e6cac65654079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clarifying the real status: LLMind2 is under development. The PhD starts from a technical foundation, not a validated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Clearly distinguish the existing asset, the work to be done, and outcomes still to be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gap is not merely performance-related; it concerns verifiability, data, and the therapeutic relationship.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Prioritize RQ1. RQ2 and RQ3 complement it without diluting the primary endpoint.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dependency: WP1 enables WP2; WP3 extends evaluation to relationships and services.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scientific value lies in comparing configurations and documenting resource-quality trade-offs, not preselecting a winning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state sample numbers. Explain that the pilot estimates variability and effect size for power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Digital Anamnesis is a research instrument to be developed and validated, not a finished tool.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preregistration and versioning to benchmark reproducibility. Clinical responsibility always remains human.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Gantt as a sequence of decisions and deliverables, not merely a calendar.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outcomes as contributions to be produced, not benefits already demonstrated.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knowledge question, not the software. Connect publication, skills, and motivation verbally.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4f4f8eb606d464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9fc672da6fc4471" Type="http://schemas.openxmlformats.org/officeDocument/2006/relationships/theme" Target="theme/theme2.xml"/><Relationship Id="R85a9009c74fb4c07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a9009c74fb4c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650cfcd58104ac6" Type="http://schemas.openxmlformats.org/officeDocument/2006/relationships/notesSlide" Target="../notesSlides/notesSlide1.xml"/><Relationship Id="Rbac8234137d54540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3877c156a1d4b6d" Type="http://schemas.openxmlformats.org/officeDocument/2006/relationships/slideLayout" Target="../slideLayouts/slideLayout1.xml"/><Relationship Id="Rdedb37f9a9244dac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3a2b78b406a4e45" Type="http://schemas.openxmlformats.org/officeDocument/2006/relationships/notesSlide" Target="../notesSlides/notesSlide3.xml"/><Relationship Id="Ra243fa1333de420f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8c6e3afb17a94e11" Type="http://schemas.openxmlformats.org/officeDocument/2006/relationships/notesSlide" Target="../notesSlides/notesSlide4.xml"/><Relationship Id="Rd6a7d92a64ea4574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00e87cdaf194cf2" Type="http://schemas.openxmlformats.org/officeDocument/2006/relationships/notesSlide" Target="../notesSlides/notesSlide5.xml"/><Relationship Id="R6dcac217211041da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c32a1d53e13c4688" Type="http://schemas.openxmlformats.org/officeDocument/2006/relationships/notesSlide" Target="../notesSlides/notesSlide6.xml"/><Relationship Id="Rdafd1a56c5e841d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b821307392f4a75" Type="http://schemas.openxmlformats.org/officeDocument/2006/relationships/notesSlide" Target="../notesSlides/notesSlide7.xml"/><Relationship Id="Re724748e166640bf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5a85b421434e40ed" Type="http://schemas.openxmlformats.org/officeDocument/2006/relationships/notesSlide" Target="../notesSlides/notesSlide8.xml"/><Relationship Id="Rf16aba5beb7b4ac8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03aeca0559ad43b7" Type="http://schemas.openxmlformats.org/officeDocument/2006/relationships/slideLayout" Target="../slideLayouts/slideLayout1.xml"/><Relationship Id="Rfe64031b563f403e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090db19469d4a7d" Type="http://schemas.openxmlformats.org/officeDocument/2006/relationships/notesSlide" Target="../notesSlides/notesSlide10.xml"/><Relationship Id="Ra4767f1dd47547e3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76e07c1dddcb427e" Type="http://schemas.openxmlformats.org/officeDocument/2006/relationships/notesSlide" Target="../notesSlides/notesSlide11.xml"/><Relationship Id="Rb28090399d0d4305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3eb1f47b87d94efd" Type="http://schemas.openxmlformats.org/officeDocument/2006/relationships/notesSlide" Target="../notesSlides/notesSlide12.xml"/><Relationship Id="R801ab58ca5bb4bad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7C6500-BD53-4E84-A487-97DBE032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486DB-3BF8-49D5-B69D-299BA5FD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C8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7C8D4"/>
                </a:solidFill>
                <a:latin typeface="Aptos"/>
                <a:ea typeface="Aptos"/>
                <a:cs typeface="Aptos"/>
              </a:rPr>
              <a:t>RESEARCH PROPOSAL · PLATFORM UNDER DEVELOPMENT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B25EA-2E18-4482-950A-13747E48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PsyCare-AI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DDD89-0F8E-4C5B-99AE-42002F4F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990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AI and nosographical grounding for transparent, sustainable clinical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09928-2283-43A0-817B-B6BF2F8D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2D6B6-1DCC-4306-B98B-F2C3802C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4E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9E4EA"/>
                </a:solidFill>
                <a:latin typeface="Aptos"/>
                <a:ea typeface="Aptos"/>
                <a:cs typeface="Aptos"/>
              </a:rPr>
              <a:t>PhD in Applied Sciences to Well-being and Sustainability · Research Line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02303-E09F-4A34-B039-144CB043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Davide Ditolve</a:t>
            </a:r>
          </a:p>
        </p:txBody>
      </p:sp>
    </p:spTree>
    <p:extLst>
      <p:ext uri="{BB962C8B-B14F-4D97-AF65-F5344CB8AC3E}">
        <p14:creationId xmlns:p14="http://schemas.microsoft.com/office/powerpoint/2010/main" val="3749785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7D80C4-B267-4846-AD40-34FEA50F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FE0A9-9B57-4AD5-94A3-B10FBC20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697A3-A657-4F64-ABC3-C318E90C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starting point is concrete, but the scientific work still has to be done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AA687-6DAB-4211-B83C-41FE6EDA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155E8-BC23-49AE-9905-7E658322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74B29-C2C5-4BAC-9F47-FD156E85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25376-171C-4201-AAA1-5C5AAB33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DURING THE PHD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48E3C-4079-4F6A-A75D-25BE256C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6212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67932-3212-4803-8E42-825A0CD1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78FF7-3D59-4B36-87D7-AD6E8349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Software architecture and research modules under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18A26C-0847-46BF-A60B-C69CA3D2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2DFA4-C44A-4AC5-BD98-4CE83C39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9562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ICD-11 exploration and benchmarking as a technical foundation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F74C75-671A-4701-96BC-2F857D9A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47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106D5-0B88-46DA-861A-4D0B45CE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No clinical validation or medical-device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7827F-1A2F-4CDD-94AE-E560AB44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9CF88-A653-4330-A609-577E0D1A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8597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9CE31-A2E5-4B69-8756-77B8560D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E1C8A-7C08-48CE-AFF7-B618017A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Consolidate a reproducible experimental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7F5EF-223C-4A19-87DC-14DF2CCE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384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624264-2114-4D9D-827C-B17717B8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908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EDA2E2-DA29-4562-BFCD-61CD5551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765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8D31A-D569-42A0-B288-51602104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95625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Develop and compare local RAG pipelines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4AD5E-7D86-49D3-A6E0-F359164C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F7E22-458A-42C2-94E4-4F7902F0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95725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D9E4CA-D1F7-40EB-98AA-100AF2F9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814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83C9B5-4558-4FFA-8634-AD5DFCCC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419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Evaluate utility, limitations, and impact through approved studies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C9C77E-92B5-469E-9C4F-494F1041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Declared status: research platform under development, not a medical device or clinically validated system.</a:t>
            </a:r>
          </a:p>
        </p:txBody>
      </p:sp>
    </p:spTree>
    <p:extLst>
      <p:ext uri="{BB962C8B-B14F-4D97-AF65-F5344CB8AC3E}">
        <p14:creationId xmlns:p14="http://schemas.microsoft.com/office/powerpoint/2010/main" val="13626808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696AFB-19BF-492E-9F8F-24EBD32A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C8D00-AFC5-4848-8189-73838381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SCIENTIFIC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9CF31-D41E-4248-94E4-7CFD820A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 diagnostically ambiguous cases, the risk is closing reasoning too early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29005-6528-4E53-8F02-09A95282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BC562-CA71-4BCE-A40C-8A18B49B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90B83-1D47-417C-B850-AFB5AC4D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23F49-2027-48BA-8A58-DB898BF8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7864F-B999-44FE-A009-4FD67F44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Anchoring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9B292-ACF3-4548-A8CC-9587A0AE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The first hypothesis shapes how later evidence is interpreted.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72AEB-E360-4437-84B8-19BF727A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3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31866-D46C-4322-89B5-F6DE4CBD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050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F0E37-83B6-451C-9617-52DA1912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Confirmation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259C4-648B-4A3D-A522-314DA74C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051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Equivocal findings are treated as supporting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5C219E-5295-4D63-AA10-2BF12CA4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F68B3-6550-47FE-B02D-9B82C099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5190B-72BA-4E6F-A6C1-6EC46F3D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717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Omission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A7E91-3C9E-465C-877A-9096E35B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Alternatives, exclusions, or missing information remain unexplored.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8B579-92BE-4481-BA06-A756E138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Cremaschi et al., 2025 · Sharma et al., 2023 · WHO, 2024</a:t>
            </a:r>
          </a:p>
        </p:txBody>
      </p:sp>
    </p:spTree>
    <p:extLst>
      <p:ext uri="{BB962C8B-B14F-4D97-AF65-F5344CB8AC3E}">
        <p14:creationId xmlns:p14="http://schemas.microsoft.com/office/powerpoint/2010/main" val="1242904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0B6667-4C52-45E3-9D88-BBABA884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BE99E-15F8-424F-BEB2-796308F3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QUESTIONS AND HYPOTHESES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798A3-4402-493E-BA60-8F935AD8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primary question concerns differential-diagnosis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4878B-7A52-475F-87AD-D48765EF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A43CC-BAA8-4D46-ADDF-BD3EC0B4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F491D-D8B4-40AC-87F9-E8A18633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RQ1 · PRIMARY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223DC-84E7-48DD-9CD3-A8759505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85925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Does local RAG broaden plausible alternatives and expose supporting, contradictory, and missing evidence?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A93B5-DC9B-4559-A21D-36C8D71A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79EDF-2009-4DFA-AAED-18A43C5F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RQ2 · CLINICAL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C0DCC-62C9-41B1-8A77-27985471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38475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Does it reduce omissions and unsupported assumptions without increasing workload?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A8065-1343-40A7-8211-5DC1F70B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8781B-3056-4A9F-8600-D70A35E3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RQ3 · RELATIONAL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845EC3-15FC-44B7-8B99-5340679F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91025"/>
            <a:ext cx="800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How is chatbot use associated with well-being and therapeutic alliance?</a:t>
            </a:r>
          </a:p>
        </p:txBody>
      </p:sp>
    </p:spTree>
    <p:extLst>
      <p:ext uri="{BB962C8B-B14F-4D97-AF65-F5344CB8AC3E}">
        <p14:creationId xmlns:p14="http://schemas.microsoft.com/office/powerpoint/2010/main" val="1426392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7D6A20-0673-4ACC-8147-563D76E9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73496-566C-41A3-AB8D-92058357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OVERALL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1E6BC-2A7D-4438-BE45-EA44BD14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One integrated programme, structured into three work packages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B6703-A546-4BD6-8AEE-6FAAE6ED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F78AD-460D-4A7E-A8D3-CC35D926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9EBEB-9CFF-455A-9940-FEF68B7B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24200"/>
            <a:ext cx="914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B5C18-5CD2-46B9-A6CF-16C96310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E8E696-70F7-4082-880A-F8719EAA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WP1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A27F9-78FE-4EEE-B628-3FAD3D10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290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5EF08-2635-4E36-969E-0FB6944E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38625"/>
            <a:ext cx="2905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Development, grounding, quantization, and technical benchmarking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4494B2-B805-46F2-977D-7ACB9779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A4EEF8-866A-49E2-BE8B-846BD0DC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990DC-4C76-4823-A481-BDFEB8F2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290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Clinical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ABE49-AEC1-4EFF-9183-A4260B06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38625"/>
            <a:ext cx="2905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Cross-over vignette study and blinded expert 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128E7-350A-43DB-B10E-F116132C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00250"/>
            <a:ext cx="952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66F7E-B2E5-45C5-B534-E888B3BB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0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WP3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6D9FD-2951-4F2D-A46F-2E3F9438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29000"/>
            <a:ext cx="2714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Relationship and services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CED9A-24DE-4F69-AFC7-ABC4FEFF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38625"/>
            <a:ext cx="2905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Digital Anamnesis, observational study, and focus groups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335F9-FF34-4AAC-A6E5-087802EB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Technology development, experimental evaluation, and service implementation are treated as one research programme.</a:t>
            </a:r>
          </a:p>
        </p:txBody>
      </p:sp>
    </p:spTree>
    <p:extLst>
      <p:ext uri="{BB962C8B-B14F-4D97-AF65-F5344CB8AC3E}">
        <p14:creationId xmlns:p14="http://schemas.microsoft.com/office/powerpoint/2010/main" val="733720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1ED3F6-8FEE-49C8-879D-977418F6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50783-5BA0-461B-B7B1-DB5D5258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WP1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EF9AF-8349-4F47-ADD4-B030D3B5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WP1 — the architectural boundary is part of the research hypothesis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D06BF-93DE-4C66-B772-B13F5190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95647-3AA3-4504-827D-50B347F3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CE586-BEAC-499E-A3AC-88DDC13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15F40-64A9-4C13-A778-1D0F4427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676525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897A0-9FF6-4B3B-AA98-3515DCE6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857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A94B8-05D2-4055-AED4-DB03B541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76525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70BB5-8F76-4844-8079-4E23CBEE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57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68337-CB6F-4902-91F2-D54993F1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76525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B9495-EF1A-4ECF-8D5A-10910E3F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CAE483-E6D3-449D-92AF-C58D0779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Clinical interface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20177-FD2F-47D3-ABBA-8525367E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28875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214DD-491A-4071-B3D3-7B50DC83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00325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Quantized local 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5E89C-F1B7-427B-B1F9-29343D1F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28875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1626BF-B0F0-49F9-B3E7-63C11926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00325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Agentic RAG (coordinator + critic)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60314B-277E-4192-AD7E-07046211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28875"/>
            <a:ext cx="1905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1F5"/>
          </a:solidFill>
          <a:ln xmlns:a="http://schemas.openxmlformats.org/drawingml/2006/main" w="9525">
            <a:solidFill>
              <a:srgbClr val="246B91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57BBFD-7D7B-4D4D-8225-2DB02E4A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00325"/>
            <a:ext cx="1600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ICD-11 / DSM-5-TR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A52AA-17F6-4BBB-AC74-E28BE5F0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10001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ECE7"/>
          </a:solidFill>
          <a:ln xmlns:a="http://schemas.openxmlformats.org/drawingml/2006/main" w="9525">
            <a:solidFill>
              <a:srgbClr val="B95D3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A2AC7-1B5B-4EAC-92BF-C84DB1F2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Local inference prioritized · secure cloud fallback with PII for limited hardware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1624A-D940-42E4-9538-32B9E397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• latency and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B2AE1-80EF-4303-ADC3-63177108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863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• faithfulness and context 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3D1D8F-7840-40DE-85A8-3B0BF0B5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863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• traceability of prompts and sources</a:t>
            </a:r>
          </a:p>
        </p:txBody>
      </p:sp>
    </p:spTree>
    <p:extLst>
      <p:ext uri="{BB962C8B-B14F-4D97-AF65-F5344CB8AC3E}">
        <p14:creationId xmlns:p14="http://schemas.microsoft.com/office/powerpoint/2010/main" val="12238037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353D1C-8BCC-4F9B-88B3-1713A857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772F0-2868-49D5-A025-67D49A4D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WP2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2A281-0AC2-4432-B947-7E419ACA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WP2 — ambiguous vignettes test genuine differential reasoning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4D4EA-AD06-4DEC-A12E-FB04AE89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2A348-0E2C-4C6B-BEAF-29004795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2EB8A-D27B-4C54-BE8C-7B2C38CA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33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0380F-183A-45A9-AD92-0DD42AF4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1526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30094-C3D8-438B-82E7-DC0949DA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333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36350-523D-4D98-B39C-FB4148FE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526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BEC94-3B2C-4012-A830-859827C7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523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DEDA0-DE49-4834-A047-34B8E40D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1526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C5F90-F397-439D-BEF1-88522662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095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797551-1CEB-4F68-9CB2-15463375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24075"/>
            <a:ext cx="1790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Subthreshold and comorbid cases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E4C8E-1816-4B23-9334-0DC4D9B3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52625"/>
            <a:ext cx="2095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1D4F6-0678-4292-A79D-35E6FBA0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24075"/>
            <a:ext cx="1790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Counterbalanced order and difficulty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CC0E67-FA0C-4A38-A257-896C014E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52625"/>
            <a:ext cx="2095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36138-C872-42EC-AB8C-F862F11E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24075"/>
            <a:ext cx="1790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Local CDSS vs manual consultation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76E81-608D-4ECA-96AE-AEB0A3A8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2095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F7CDF-E196-479D-BAD4-55FB126A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124075"/>
            <a:ext cx="1790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Blinded expert reference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73EE5-A85D-4861-83E1-1C76D462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PRIMARY ENDPOINT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DE6AB9-1C2F-4E1B-B1F9-E269DE47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Plausible alternatives + supporting, contradictory, and missing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0A7A3-B8D3-4E6B-A374-A6AE7724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ERRORS AND IMPACT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C3597-D904-4CA9-BD59-C2FEC615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Omissions · unsupported assumptions · accuracy · NASA-TLX · SUS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9E3921-001A-4270-B2E4-25A9E0EE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48250"/>
            <a:ext cx="1038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4F5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EFD62-E07C-4BE9-8483-E81695B8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Sample size will be defined after the pilot through power analysis on the primary endpoint.</a:t>
            </a:r>
          </a:p>
        </p:txBody>
      </p:sp>
    </p:spTree>
    <p:extLst>
      <p:ext uri="{BB962C8B-B14F-4D97-AF65-F5344CB8AC3E}">
        <p14:creationId xmlns:p14="http://schemas.microsoft.com/office/powerpoint/2010/main" val="293948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EF02F3-AD7E-4A4F-A9A6-EBEE1F9F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42C61-A78E-4FF2-8956-9514CB86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WP3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24ED2-E1F7-40DD-9A37-77FB21D7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WP3 — Digital Anamnesis turns informal experience into clinically explorable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80FD5-D4CB-4677-AF7A-855436F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165A2-E5AA-4FCE-B8B0-F557AE8D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5FABC-C32D-4C61-88E1-9CC1ADB4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5C88F-7BD9-4A7F-82FF-C103CF79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8EC52B-C9CE-497A-BC9F-97C700D0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67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Construct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27300-1E0A-41BA-BD75-5D5966D6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908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Literature, interviews, and expert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120B5-5DF5-4521-BA5D-E39E5913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52625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92D50-6DB9-4A70-8A47-A61A3B19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84984-7ACF-4630-9DA8-D68CA84F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67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32622-59EE-494E-A2F6-5A4732B3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1908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Comprehensibility, reliability, and convergent validity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A3116-D79F-4C37-937E-98539700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21837-B7D7-4752-A254-5605B828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FF5E6-27C4-4EA2-A939-1A84F7EF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67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Study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888CC-53B1-43E8-AA98-50E506E8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908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Associations with WAI, OQ-45, BDI-II, and BAI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A9DD98-2B11-48CC-87FC-B9D15C30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952625"/>
            <a:ext cx="2571750" cy="28575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8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E5AD8-C31A-4CEC-A5A4-A9238091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79A3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79A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A561A-AF3E-466D-B3B7-A8E21938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67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BB223-BE99-4988-B653-10E6D643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908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Focus groups on utility, barriers, and sustainability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816FC7-7A4C-41E3-80A0-E2731FBD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38750"/>
            <a:ext cx="9810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6ECE7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D755F-45C1-4D16-9A36-D3E60E88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Observational design: associations will not be interpreted as causal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529449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E6027D-53E4-49ED-A373-C0BF6742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B686C-D51D-42CC-BEF1-F47B5CB4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METHODS, ETHICS, AND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B817E-BE29-4BEB-A7CF-7ECD626F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Scientific quality depends on what is fixed beforehand and traced afterwards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22AB0-03C2-413B-B474-C200DEC8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83FB5-5D02-44F1-8109-7E482D4C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0C127-2E75-4A88-B7D0-0A53FE9F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5BD9A-E8BB-48B8-9615-DB77F83C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Preregister protocol, primary hypothesis, and analysis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D22C1-914E-49A1-937D-1AE59D23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DURING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1FDAE-B042-4A58-BC5C-11461DEF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38375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Log versions, parameters, prompts, retrieved sources, and outputs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AEF5C-6496-4EED-B98A-E4145881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9C09B-52F9-4FA4-985B-E38CFAB2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Mixed effects, effect sizes, confidence intervals, and sensitivity analyses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9E319-8F34-4D5A-A9DB-DC7AF9A2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749F2-71FC-40FA-9240-859DF0D8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ETHICAL SAFEGUARDS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23870-F5B1-428A-A316-5CBF477A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Human clinical responsibility · ethics approval · pseudonymization · data minimization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25C11-B5E0-454B-B8C5-7071A49B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863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Risks: recruitment, model obsolescence, and local performance. Mitigation: multiple sites, model-independent benchmarks, and a reproducible minimum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20321479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DF5B50-61D3-4E37-92C5-CF5F514E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D484C-B82E-42BF-927F-CDC09FBA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WORK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4F0BA-2C0E-4165-BB00-6E1682B6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The work plan links every phase to a verifiable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56C59-61D6-4076-97B4-26FE1684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FE448-35D3-4842-80CF-D43B8F7A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AEA64-7469-4767-A865-9428D26D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4F923-1710-469A-BD2B-C0740B7D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3143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D011A-E58F-460D-B818-2DA35EF1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2E772-F0D3-4080-AD25-7C57F2A2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Protocol and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099566-3969-41AE-8436-D2AC49B6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Architecture and benchmarks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8FD7E-3ADF-4179-82D0-A9E39C4C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3143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07611-7C89-4EBE-A2F1-EC30DF37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09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671DC-06B6-4882-8788-CC028A5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Cross-over study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50DB4-9506-46C0-9661-C145140F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Digital Anamnesis and interim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315AB-3DA1-483F-BFD6-250E9792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3143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D80C9-9271-4BA7-956D-B19FAB13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098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5BB497-6743-4FC6-9FFD-95D5BC4F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Focus groups and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A3CD2A-AF79-47F3-AD89-6B566159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528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Final analysis, thesis, and publications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2AF17-4C31-406B-B087-45F93F4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Each year produces an independently verifiable output and prepares the next phase.</a:t>
            </a:r>
          </a:p>
        </p:txBody>
      </p:sp>
    </p:spTree>
    <p:extLst>
      <p:ext uri="{BB962C8B-B14F-4D97-AF65-F5344CB8AC3E}">
        <p14:creationId xmlns:p14="http://schemas.microsoft.com/office/powerpoint/2010/main" val="16413696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5436A7-7871-43EC-9AE3-D18A2F89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923DD-B12A-4D9B-913A-10C67F09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ORIGINALITY AND EXPECTED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8F162-EF46-4D8E-A62E-C04E1E07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No automated diagnosis, but a "Swiss Army knife" for the clinician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F9FB9-767B-4A5D-B29D-01B1F4BB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14694-A478-4A7D-9616-F9226772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9E982-65CD-40D5-AB7F-D524FB6F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SCIENTIFIC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ABAAE-7A58-40D2-93EE-3E716636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621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Measure differential-reasoning quality in diagnostically ambiguous cases.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D94B8-9D69-43FF-8262-5D45DA92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BABD2-5F91-4005-8872-8A08AB8F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5D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5D3B"/>
                </a:solidFill>
                <a:latin typeface="Aptos"/>
                <a:ea typeface="Aptos"/>
                <a:cs typeface="Aptos"/>
              </a:rPr>
              <a:t>CLINICAL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29138-405F-4E12-B0E9-543247D5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62175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Session support to define targeted therapeutic pathways and well-being.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A1EEE-F057-4178-AAE2-9A5AABED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17736-E973-417D-BB01-E4ADFD6F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7F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7F79"/>
                </a:solidFill>
                <a:latin typeface="Aptos"/>
                <a:ea typeface="Aptos"/>
                <a:cs typeface="Aptos"/>
              </a:rPr>
              <a:t>TECHNOLOGICAL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53D97-88C5-4E1E-B167-EDB93BB4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Local architecture and reproducible benchmarks for constrained models.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F02EA-E36A-46D0-B63C-01BB506F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9A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79A3B"/>
                </a:solidFill>
                <a:latin typeface="Aptos"/>
                <a:ea typeface="Aptos"/>
                <a:cs typeface="Aptos"/>
              </a:rPr>
              <a:t>ORGANIZATIONAL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47705-5944-4E00-8BD3-2395C85A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4953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Guidelines and a risk matrix for mental-health services.</a:t>
            </a:r>
          </a:p>
        </p:txBody>
      </p:sp>
    </p:spTree>
    <p:extLst>
      <p:ext uri="{BB962C8B-B14F-4D97-AF65-F5344CB8AC3E}">
        <p14:creationId xmlns:p14="http://schemas.microsoft.com/office/powerpoint/2010/main" val="12016941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B530F0-E6A7-437C-AA7A-063316C2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FCAAE-062A-4284-BC82-CEDFA2AB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6B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6B91"/>
                </a:solidFill>
                <a:latin typeface="Aptos"/>
                <a:ea typeface="Aptos"/>
                <a:cs typeface="Aptos"/>
              </a:rPr>
              <a:t>CANDIDATE-PROJECT 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F8707-C828-436B-AB5E-79A00789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Why this project, and why this PhD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7BB5B-13DF-4AD6-88BA-82141036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E39E7-79B2-4610-BE96-ED26BC0A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56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6656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BDC1F-E4DA-43A5-832F-D0981E16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46B91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5B2C8-3AC7-43ED-8225-0308ABA6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A05DC-C7DB-49E4-8CE0-73BA68C9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14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An existing research direction on RAG and ICD-11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A6D35-14DA-45B6-8AC6-3CD83677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B95D3B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64B25-E667-442B-81B8-CD4F91B9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393DD-BEE7-4784-861F-588860F2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1937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42B"/>
                </a:solidFill>
                <a:latin typeface="Aptos"/>
                <a:ea typeface="Aptos"/>
                <a:cs typeface="Aptos"/>
              </a:rPr>
              <a:t>A clinician-facing platform to be turned into scientific infrastructure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7F2616-4B25-4981-871D-8A1B2B8C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B7F79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F193E-8221-4AB5-889C-9937FF20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2ED77-F5F1-4329-A13F-210F7D51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42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B"/>
                </a:solidFill>
                <a:latin typeface="Aptos"/>
                <a:ea typeface="Aptos"/>
                <a:cs typeface="Aptos"/>
              </a:rPr>
              <a:t>A problem requiring informatics, psychopathology, and governance together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58C4C-262E-474E-8A57-0D84A239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4D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F4069-CC05-41C7-9071-FD43D65A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Aim: produce verifiable knowledge about when, how, and within which limits AI can support clinical reasoning.</a:t>
            </a:r>
          </a:p>
        </p:txBody>
      </p:sp>
    </p:spTree>
    <p:extLst>
      <p:ext uri="{BB962C8B-B14F-4D97-AF65-F5344CB8AC3E}">
        <p14:creationId xmlns:p14="http://schemas.microsoft.com/office/powerpoint/2010/main" val="14865338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2026-07-12T22:08:34.7060000Z</dcterms:created>
  <dcterms:modified xsi:type="dcterms:W3CDTF">2026-07-12T22:08:34.7060000Z</dcterms:modified>
</coreProperties>
</file>