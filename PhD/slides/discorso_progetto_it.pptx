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b8bae949fb2434b" Type="http://schemas.openxmlformats.org/package/2006/relationships/metadata/core-properties" Target="docProps/core.xml"/><Relationship Id="R699b999bcfaa4cd0" Type="http://schemas.openxmlformats.org/officeDocument/2006/relationships/extended-properties" Target="docProps/app.xml"/><Relationship Id="Rbe7dd3f388a0447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f1c671317a4506"/>
  </p:sldMasterIdLst>
  <p:notesMasterIdLst>
    <p:notesMasterId xmlns:r="http://schemas.openxmlformats.org/officeDocument/2006/relationships" r:id="R8707649978ed425e"/>
  </p:notesMasterIdLst>
  <p:sldIdLst>
    <p:sldId xmlns:r="http://schemas.openxmlformats.org/officeDocument/2006/relationships" id="256" r:id="Re8d13719278d40a8"/>
    <p:sldId xmlns:r="http://schemas.openxmlformats.org/officeDocument/2006/relationships" id="257" r:id="R560a86b23bdd4ea6"/>
    <p:sldId xmlns:r="http://schemas.openxmlformats.org/officeDocument/2006/relationships" id="258" r:id="Rd34ce8f40aaf41f3"/>
    <p:sldId xmlns:r="http://schemas.openxmlformats.org/officeDocument/2006/relationships" id="259" r:id="Raa0b3cac70dc46ae"/>
    <p:sldId xmlns:r="http://schemas.openxmlformats.org/officeDocument/2006/relationships" id="260" r:id="R4964d312d0e24d29"/>
    <p:sldId xmlns:r="http://schemas.openxmlformats.org/officeDocument/2006/relationships" id="261" r:id="R5b01dd08f0a34398"/>
    <p:sldId xmlns:r="http://schemas.openxmlformats.org/officeDocument/2006/relationships" id="262" r:id="R1dcb2f0a90294c8d"/>
    <p:sldId xmlns:r="http://schemas.openxmlformats.org/officeDocument/2006/relationships" id="263" r:id="Rda1681dc5f0548c8"/>
    <p:sldId xmlns:r="http://schemas.openxmlformats.org/officeDocument/2006/relationships" id="264" r:id="R55831e445c5747e7"/>
    <p:sldId xmlns:r="http://schemas.openxmlformats.org/officeDocument/2006/relationships" id="265" r:id="R8471c811a896498b"/>
    <p:sldId xmlns:r="http://schemas.openxmlformats.org/officeDocument/2006/relationships" id="266" r:id="Rf6a47a5943a4400d"/>
    <p:sldId xmlns:r="http://schemas.openxmlformats.org/officeDocument/2006/relationships" id="267" r:id="R084167b0358b4e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84167b0358b4ee9" Type="http://schemas.openxmlformats.org/officeDocument/2006/relationships/slide" Target="slides/slide12.xml"/><Relationship Id="R1dcb2f0a90294c8d" Type="http://schemas.openxmlformats.org/officeDocument/2006/relationships/slide" Target="slides/slide7.xml"/><Relationship Id="R4964d312d0e24d29" Type="http://schemas.openxmlformats.org/officeDocument/2006/relationships/slide" Target="slides/slide5.xml"/><Relationship Id="R55831e445c5747e7" Type="http://schemas.openxmlformats.org/officeDocument/2006/relationships/slide" Target="slides/slide9.xml"/><Relationship Id="R560a86b23bdd4ea6" Type="http://schemas.openxmlformats.org/officeDocument/2006/relationships/slide" Target="slides/slide2.xml"/><Relationship Id="R5b01dd08f0a34398" Type="http://schemas.openxmlformats.org/officeDocument/2006/relationships/slide" Target="slides/slide6.xml"/><Relationship Id="R5e0451472deb4a2b" Type="http://schemas.openxmlformats.org/officeDocument/2006/relationships/theme" Target="theme/theme1.xml"/><Relationship Id="R6df1c671317a4506" Type="http://schemas.openxmlformats.org/officeDocument/2006/relationships/slideMaster" Target="slideMasters/slideMaster1.xml"/><Relationship Id="R719661fd7a5d4a36" Type="http://schemas.openxmlformats.org/officeDocument/2006/relationships/tableStyles" Target="tableStyles.xml"/><Relationship Id="R8471c811a896498b" Type="http://schemas.openxmlformats.org/officeDocument/2006/relationships/slide" Target="slides/slide10.xml"/><Relationship Id="R8707649978ed425e" Type="http://schemas.openxmlformats.org/officeDocument/2006/relationships/notesMaster" Target="notesMasters/notesMaster1.xml"/><Relationship Id="Raa0b3cac70dc46ae" Type="http://schemas.openxmlformats.org/officeDocument/2006/relationships/slide" Target="slides/slide4.xml"/><Relationship Id="Rc05e8e3696284ab3" Type="http://schemas.openxmlformats.org/officeDocument/2006/relationships/presProps" Target="presProps.xml"/><Relationship Id="Rd34ce8f40aaf41f3" Type="http://schemas.openxmlformats.org/officeDocument/2006/relationships/slide" Target="slides/slide3.xml"/><Relationship Id="Rda1681dc5f0548c8" Type="http://schemas.openxmlformats.org/officeDocument/2006/relationships/slide" Target="slides/slide8.xml"/><Relationship Id="Re8d13719278d40a8" Type="http://schemas.openxmlformats.org/officeDocument/2006/relationships/slide" Target="slides/slide1.xml"/><Relationship Id="Rf6a47a5943a4400d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dd10e66b9fc14d8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f733631dafe47f5" Type="http://schemas.openxmlformats.org/officeDocument/2006/relationships/notesMaster" Target="../notesMasters/notesMaster1.xml"/><Relationship Id="R67ef57e71ba0419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993d2a7a00ec40eb" Type="http://schemas.openxmlformats.org/officeDocument/2006/relationships/notesMaster" Target="../notesMasters/notesMaster1.xml"/><Relationship Id="Ra6fe5096b78144a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05bd112b633468f" Type="http://schemas.openxmlformats.org/officeDocument/2006/relationships/slide" Target="../slides/slide3.xml"/><Relationship Id="R4346b5bdd48a4b6b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ebec51be45d4f26" Type="http://schemas.openxmlformats.org/officeDocument/2006/relationships/notesMaster" Target="../notesMasters/notesMaster1.xml"/><Relationship Id="R841c00c5450a41a7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791378e1bccd4f9a" Type="http://schemas.openxmlformats.org/officeDocument/2006/relationships/notesMaster" Target="../notesMasters/notesMaster1.xml"/><Relationship Id="Rc91a67fd568045c7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5e32fe6b21f54003" Type="http://schemas.openxmlformats.org/officeDocument/2006/relationships/slide" Target="../slides/slide6.xml"/><Relationship Id="Rba237e5168624d66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7d7d7f19c2834a3c" Type="http://schemas.openxmlformats.org/officeDocument/2006/relationships/slide" Target="../slides/slide7.xml"/><Relationship Id="Rfb50586302a14b58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bae397918254a40" Type="http://schemas.openxmlformats.org/officeDocument/2006/relationships/notesMaster" Target="../notesMasters/notesMaster1.xml"/><Relationship Id="R4663446c70064808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29ede91ee514578" Type="http://schemas.openxmlformats.org/officeDocument/2006/relationships/slide" Target="../slides/slide9.xml"/><Relationship Id="Rb43ce4357bef45d6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a8ae9b775cf44af" Type="http://schemas.openxmlformats.org/officeDocument/2006/relationships/slide" Target="../slides/slide10.xml"/><Relationship Id="Rc73b1f2e9d1b410f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9053dc98ff844622" Type="http://schemas.openxmlformats.org/officeDocument/2006/relationships/slide" Target="../slides/slide11.xml"/><Relationship Id="R9d69a571c81a410f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979f67cd46f34292" Type="http://schemas.openxmlformats.org/officeDocument/2006/relationships/notesMaster" Target="../notesMasters/notesMaster1.xml"/><Relationship Id="Raf25128931034610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Aprire chiarendo lo stato reale: LLMind2 è in sviluppo. Il dottorato non parte da un prodotto validato, ma da una base tecnica da trasformare in infrastruttura scientifica.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Distinguere chiaramente asset esistente, lavoro ancora da fare e risultati da verificare.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gap non è semplicemente prestazionale: riguarda verificabilità, dati e relazione di cura.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Dare priorità a RQ1. RQ2 e RQ3 completano il quadro senza diluire l'endpoint primario.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Mostrare la dipendenza logica: WP1 rende possibile WP2; WP3 amplia la valutazione alla relazione e ai servizi.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valore scientifico è confrontare configurazioni e documentare il compromesso tra risorse e qualità, non scegliere in anticipo un modello vincente.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indicare numeri. Spiegare che il pilota serve anche a stimare variabilità ed effetto per la power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Evidenziare che la Digital Anamnesis è un oggetto di ricerca da costruire e validare, non uno strumento già pronto.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Collegare preregistrazione e versionamento alla riproducibilità dei benchmark. La responsabilità resta sempre al clinico.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Gantt è una sequenza di decisioni e deliverable, non solo un calendario.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Formulare i risultati come contributi da produrre, non come benefici già dimostrati.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Chiudere sulla domanda di conoscenza, non sul software. Collegare pubblicazione, competenze e motivazione personale senza sovraccaricare la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9faf2efbd64445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49ed34612fc4f93" Type="http://schemas.openxmlformats.org/officeDocument/2006/relationships/slideLayout" Target="../slideLayouts/slideLayout1.xml"/><Relationship Id="R5ca442aa9510412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9ed34612fc4f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9963eb71a654331" Type="http://schemas.openxmlformats.org/officeDocument/2006/relationships/slideLayout" Target="../slideLayouts/slideLayout1.xml"/><Relationship Id="Rc0efecec8816454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50db74d438824398" Type="http://schemas.openxmlformats.org/officeDocument/2006/relationships/notesSlide" Target="../notesSlides/notesSlide2.xml"/><Relationship Id="Rfc87d3674c5449ed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2a40af3c6fc43dd" Type="http://schemas.openxmlformats.org/officeDocument/2006/relationships/slideLayout" Target="../slideLayouts/slideLayout1.xml"/><Relationship Id="Rb146cfddc422408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7f0332f79455401c" Type="http://schemas.openxmlformats.org/officeDocument/2006/relationships/slideLayout" Target="../slideLayouts/slideLayout1.xml"/><Relationship Id="Rc17120be5b1c48f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8127c45efae433a" Type="http://schemas.openxmlformats.org/officeDocument/2006/relationships/notesSlide" Target="../notesSlides/notesSlide5.xml"/><Relationship Id="R35f42ebf2444491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6d739e0c10e748bb" Type="http://schemas.openxmlformats.org/officeDocument/2006/relationships/slideLayout" Target="../slideLayouts/slideLayout1.xml"/><Relationship Id="R88690ae572dd48e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c677a0e2b5e14549" Type="http://schemas.openxmlformats.org/officeDocument/2006/relationships/slideLayout" Target="../slideLayouts/slideLayout1.xml"/><Relationship Id="Rfb0675a6d3d3437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7f5b1ee73c44dbf" Type="http://schemas.openxmlformats.org/officeDocument/2006/relationships/notesSlide" Target="../notesSlides/notesSlide8.xml"/><Relationship Id="Ra9e381fe142441e6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a559af72bde14ead" Type="http://schemas.openxmlformats.org/officeDocument/2006/relationships/notesSlide" Target="../notesSlides/notesSlide9.xml"/><Relationship Id="Rf298c4b190104d5c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655f219c107d4482" Type="http://schemas.openxmlformats.org/officeDocument/2006/relationships/notesSlide" Target="../notesSlides/notesSlide10.xml"/><Relationship Id="R803beab2e2b14bed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d82292140d00415c" Type="http://schemas.openxmlformats.org/officeDocument/2006/relationships/notesSlide" Target="../notesSlides/notesSlide11.xml"/><Relationship Id="Re1f620781f8243bc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2d2e80ef03447ad" Type="http://schemas.openxmlformats.org/officeDocument/2006/relationships/slideLayout" Target="../slideLayouts/slideLayout1.xml"/><Relationship Id="R09c3ee029c934536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0B4D79-3ECA-4EAA-99A1-6B8E6D2C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8A1DC-868C-410F-A6F0-F2BC60A7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C8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C8D4"/>
                </a:solidFill>
                <a:latin typeface="Aptos"/>
                <a:ea typeface="Aptos"/>
                <a:cs typeface="Aptos"/>
              </a:rPr>
              <a:t>PROPOSTA DI RICERCA · PIATTAFORMA IN SVILUPPO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340A1-CD34-42FF-B1D6-ED136C8B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PsyCare-AI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A0E54-6F4D-4E02-931C-DE87E94A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IA locale e grounding nosografico per un supporto clinico trasparente e sostenibile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F746A-FCF8-498F-BE4F-79C1E2D8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5F042-9B68-4D9A-ACFD-24A1CD1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Dottorato in Scienze Applicate a Benessere e Sostenibilità · Linea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1D251-AAE4-4A1F-AE1C-CEDB951D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Davide Ditolve</a:t>
            </a:r>
          </a:p>
        </p:txBody>
      </p:sp>
    </p:spTree>
    <p:extLst>
      <p:ext uri="{BB962C8B-B14F-4D97-AF65-F5344CB8AC3E}">
        <p14:creationId xmlns:p14="http://schemas.microsoft.com/office/powerpoint/2010/main" val="852879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31DFB8-AD5A-415F-BF91-FF0083F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3B9FB-486D-4E88-9E56-ED8ABB20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POSIZIONAMENTO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F68AE-3ED9-4B5F-899F-0480F745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Il punto di partenza è concreto, ma il lavoro scientifico deve ancora essere svolto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7E74B-8475-477E-969F-3494DB63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C26EA-8D4A-4CC2-B351-81E3326A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2D220-0DB6-4384-B35D-DFB337BD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OGGI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0A501-F314-4106-91CE-28430845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NEL DOTTORATO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4364B-AA95-4160-8E0A-78E4ECD1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6212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71727-107C-4872-A15E-2F327426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6F23E-AAAF-435C-B1D3-38CECA1A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Architettura software e moduli di ricerca in lavorazione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F732B-C1D2-40EE-BF5E-02BB76E7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CDF69-D4EA-4F7C-AA51-FE3BECB3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956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Esplorazione ICD-11 e benchmarking come base tecnica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34F6F-5ADD-4FF7-AE08-5BABF61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F6F34-4E69-4D7D-8B06-3A2B8B0B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Nessuna validazione clinica o qualifica di dispositivo medico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4E7DE-6AF4-4D83-AF8B-C8720649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87E09-0613-4380-84AF-41C02B63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8597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4D6D0-AE2C-488A-B0DA-6F396A80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740FB-1EC3-43F9-A776-E86385DB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Consolidare una piattaforma sperimentale riproducibile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09887-7E13-4915-92D3-9A3A863A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CF27AF-F137-463A-841A-108FEDF8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09416D-31A6-4615-8C2C-CC6301ED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27FCA-7503-42B0-8F75-F53B5772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956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Sviluppare e confrontare pipeline RAG locali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638D0-9C15-4DED-90E9-276DF465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C0B1B1-E688-4AEB-B1B6-08840D41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957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157B74-174A-4C4C-B8F0-542FA33C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CFB55-A11E-43F4-93AF-94BBCA4B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Valutare utilità, limiti e impatto con studi approvati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D7780C-BD9D-40B3-AE17-25535388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Stato dichiarato: piattaforma di ricerca in lavorazione, non dispositivo medico e non sistema clinicamente validato.</a:t>
            </a:r>
          </a:p>
        </p:txBody>
      </p:sp>
    </p:spTree>
    <p:extLst>
      <p:ext uri="{BB962C8B-B14F-4D97-AF65-F5344CB8AC3E}">
        <p14:creationId xmlns:p14="http://schemas.microsoft.com/office/powerpoint/2010/main" val="1783358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A3DB54-E706-4A2D-88A7-E8497320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5DF1F-1BD1-478E-A38D-0EB7968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PROBLEMA SCIENTIFICO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C30F6-44A7-4CFF-B2BE-C9DF3443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Nei casi di confine, il rischio è chiudere il ragionamento troppo presto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10D9E-FB31-4724-AC02-03BCF58D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15AB8-44B5-4A7F-B606-44F0E1CF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311EA-CEB6-4403-96CD-0C03900E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5001E-C0C7-4E2B-B097-442094E8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D14FE-E59D-4867-8827-D9800164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Ancoraggio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A4C48-A551-4739-BFF7-506204D3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La prima ipotesi orienta la lettura dei dati successivi.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216DB-BCCF-41B9-9647-60182D9A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F699B-5D98-4212-87A4-FA0942CF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050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1D666-0889-44C7-88A0-060BFA2B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Conferma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7C46E-6FE6-429C-9CCB-C77FB0A1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Gli elementi equivoci vengono interpretati come prove favorevoli.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9F4F5-E2C2-4B9A-828D-AEB4DC51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ECF1B-CBA0-491C-B35A-EBBA5A7F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4CC58-1E04-45F0-A9AB-83979F57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Omissione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A8BA6-DDF7-4C7E-B4CB-4B4B0E14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Alternative, esclusioni o informazioni mancanti restano inesplorate.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B17BF-54DA-4ED3-86C1-08FC7407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Cremaschi et al., 2025 · Sharma et al., 2023 · WHO, 2024</a:t>
            </a:r>
          </a:p>
        </p:txBody>
      </p:sp>
    </p:spTree>
    <p:extLst>
      <p:ext uri="{BB962C8B-B14F-4D97-AF65-F5344CB8AC3E}">
        <p14:creationId xmlns:p14="http://schemas.microsoft.com/office/powerpoint/2010/main" val="1299211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C8C4C2-9401-42F0-9BC1-92E2BD7F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DFDD7-1176-49AC-BBAD-F561F18A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DOMANDE E IPOTESI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A570A-690B-41FD-935A-67E1BDA3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domanda primaria riguarda la qualità della diagnosi differenziale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1CDD3-9698-4269-AE3A-95112AD7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8E7AD-8498-43BD-8972-1BB482BF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D5623-46D8-47F3-A67D-0F19A562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RQ1 · PRIMARIA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C25FF-DF04-421B-9DD1-6631C490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85925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Il RAG locale amplia le alternative plausibili e rende esplicite evidenze a favore, contro e mancanti?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B4A72-0DD6-4610-9415-D4E90EC1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1E0DE-FDC0-4094-ACF2-C70AEE0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RQ2 · CLINICA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BAE3F-6461-46B1-AF0B-A3112879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38475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Riduce omissioni e assunzioni non supportate senza aumentare il carico mentale?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4D3BF-31C8-4624-8FEC-7330FD5F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DC845-1324-4AF3-8140-9BC8738D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RQ3 · RELAZIONALE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3444A-1C26-4F5D-8CB2-A565B081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91025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Come si associa l’uso dei chatbot a benessere e alleanza terapeutica?</a:t>
            </a:r>
          </a:p>
        </p:txBody>
      </p:sp>
    </p:spTree>
    <p:extLst>
      <p:ext uri="{BB962C8B-B14F-4D97-AF65-F5344CB8AC3E}">
        <p14:creationId xmlns:p14="http://schemas.microsoft.com/office/powerpoint/2010/main" val="314291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B55E7-2A33-4B48-AEC0-B317A3EC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4DBCE-784C-4C95-AB53-2487753F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DISEGNO COMPLESSIVO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5624B-59A9-4651-A7CC-3FF1E87C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Un programma integrato, articolato in tre work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E3A7A-AF2A-4CC0-9D37-7B284519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0C5D6-E0BE-43BB-A936-E0CBF591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C53C4-0ED6-4F21-A613-00FCB830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242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4CFC3-F5A9-4C27-835D-CEDFB8A5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220BF-55CB-4063-95D6-B80DB30D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WP1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C91CF-E42E-4CE4-83AC-435EC47E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290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27125-0EB4-4373-8056-1FC6619A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38625"/>
            <a:ext cx="2905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Sviluppo, grounding, quantizzazione e benchmark tecnico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84011-5456-497E-ACE5-75E05403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36DA3-49CD-40E2-8B87-B5E9DF73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EC3C2-8D23-49BC-A080-0CC4D7D5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290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Valutazione clinica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2B0EF-52A8-417B-A4E5-28DC5A3B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38625"/>
            <a:ext cx="2905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Studio cross-over su vignette e giudizio esperto cieco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D559D-47FE-4F9B-B505-DF991165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00250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F904A-AAAD-4228-9ED8-09B310E6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0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WP3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1FAF8-2C1F-47D5-ABD6-78DE934A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290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Relazione e servizi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A8B55-C0E5-4F23-B510-9B8DCEE1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38625"/>
            <a:ext cx="2905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Digital Anamnesis, studio osservazionale e focus group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E367D-DA83-49A8-BEAB-643AB64D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Sviluppo tecnologico, valutazione sperimentale e implementazione nei servizi procedono come parti dello stesso progetto.</a:t>
            </a:r>
          </a:p>
        </p:txBody>
      </p:sp>
    </p:spTree>
    <p:extLst>
      <p:ext uri="{BB962C8B-B14F-4D97-AF65-F5344CB8AC3E}">
        <p14:creationId xmlns:p14="http://schemas.microsoft.com/office/powerpoint/2010/main" val="18732017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45C962-6441-4DBD-93F7-518C0540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36D89-4FBB-4FAD-8EA8-34C5D3B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WP1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5D8A8-9587-462D-A454-4A925E78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WP1 — il confine architetturale è parte dell’ipotesi di ricerca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B6333-9EA5-45FD-B779-3B3CF3D9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1DFF9-56BF-4475-8D07-0DE8A739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7A56F-EFC5-45FF-9CA7-7CE7809D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269E7-A4F8-40D5-8CDB-6F6A678C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76525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F2A5F-C80A-430B-825C-27818096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57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8BFEF-B9A3-43EF-90E5-E2AB2AE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76525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FDFF3-69CF-48D5-B9C4-35490C63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397B3-CB8D-4E66-ACD6-35E396E5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6525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8DE6D-D226-48F5-A2CA-F47D0866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C9C33-4833-4B2F-AE8F-AEF96681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Interfaccia clinica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6BF3F-DEF7-486F-944E-CF79195C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28875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8C306-557E-48B3-9EDA-5BE388BC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00325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LLM locale quantizzato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C68AC-5889-438D-B5C8-B7AA820B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28875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71185-0F79-4A67-96A2-7B592C68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00325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RAG Agentico (coordinatore + critico)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85FC6-22C0-44DE-91AA-4F011FF5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1F5"/>
          </a:solidFill>
          <a:ln xmlns:a="http://schemas.openxmlformats.org/drawingml/2006/main" w="9525">
            <a:solidFill>
              <a:srgbClr val="246B9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5D9A4-B483-4279-ACC5-DEEFB5D9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00325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ICD-11 / DSM-5-TR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A24C1-7C1C-4F5F-90FB-FBEF8300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1000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ECE7"/>
          </a:solidFill>
          <a:ln xmlns:a="http://schemas.openxmlformats.org/drawingml/2006/main" w="9525">
            <a:solidFill>
              <a:srgbClr val="B95D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4488E-3504-426D-AD5A-E378F6E5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Inferenza locale prioritaria · fallback in cloud sicuro con PII per hardware limitato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DDD86-2C77-4315-AF93-DF367698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• latenza e memoria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26122-48F9-4D08-9AAD-FCEC1170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863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• faithfulness e context 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FFCAB-0ED5-4AE1-B45C-191D5821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863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• tracciabilità di prompt e fonti</a:t>
            </a:r>
          </a:p>
        </p:txBody>
      </p:sp>
    </p:spTree>
    <p:extLst>
      <p:ext uri="{BB962C8B-B14F-4D97-AF65-F5344CB8AC3E}">
        <p14:creationId xmlns:p14="http://schemas.microsoft.com/office/powerpoint/2010/main" val="18288335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52736E-314F-428E-B232-A10FEC22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83E1E-1345-41DA-AF83-1CA9BBAD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WP2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4A86C-5A3B-4A44-91A8-8F97E7DC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WP2 — vignette ambigue mettono alla prova il ragionamento differenziale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E73E8-32F5-4CB5-9130-C4ED9D6C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B7C85-9E13-4096-A870-2B6C2A94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BF023-2F32-4EED-8FBE-4763285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33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3EEDB-240F-4D05-884A-FBB225FD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1526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DA17A-BDD2-4B58-AC03-D3B9F691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33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1861F-537A-4C90-891E-EE103B05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526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A16FF-D15B-4316-89C7-5886586F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13022-F79A-447D-BC8D-D8F93F4D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526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C2320-EEC2-4221-BD91-7841D189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095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40D08-1D60-4937-89AF-57984A2C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24075"/>
            <a:ext cx="1790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Casi sottosoglia e comorbidi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D32AD-C354-4D09-98A8-47E312DD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2095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7DA42-263B-4B10-98CD-69D13D19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24075"/>
            <a:ext cx="1790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Ordine e difficoltà controbilanciati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0AD2C-9994-49C6-8583-B6C0B1B8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2095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D7F07-C381-4558-86EC-161B278C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24075"/>
            <a:ext cx="1790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CDSS locale vs consultazione manuale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0E1A4-4EDC-454E-A692-1C803170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095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998E6-DDA3-444A-A9AC-92A25332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24075"/>
            <a:ext cx="1790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Riferimento esperto cieco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E4426-2CBC-45CA-93FF-693FEF04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ENDPOINT PRIMARIO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305D5-EA71-4D9C-A0B2-463D10F5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Alternative plausibili + evidenze favorevoli, contrarie e mancanti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BE965-488A-4291-99ED-0035AAFA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ERRORI E IMPATTO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FD004-784B-4FC4-9A20-8F4C7FEE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Omissioni · assunzioni non supportate · accuratezza · NASA-TLX · SUS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29D772-93F0-46E5-87BB-8C1C64BD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38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4F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AA475-BFB6-4E8D-BE9E-698559DB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La numerosità sarà definita dopo il pilota mediante power analysis sull’endpoint primario.</a:t>
            </a:r>
          </a:p>
        </p:txBody>
      </p:sp>
    </p:spTree>
    <p:extLst>
      <p:ext uri="{BB962C8B-B14F-4D97-AF65-F5344CB8AC3E}">
        <p14:creationId xmlns:p14="http://schemas.microsoft.com/office/powerpoint/2010/main" val="789242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19694B-3498-488B-B770-8404EF87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087D3-AFD2-4595-9C40-AD56047E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WP3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D9A04-8FA3-4CF6-AD6F-9DB696D1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WP3 — la Digital Anamnesis trasforma un’esperienza informale in dato clinico esplorabile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B9EFC-9DFE-4FCE-9D9F-68963043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A7305-7F35-480C-A017-AF52A6EE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8E657-2B67-4C27-AD2F-880A503B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81A76-6722-4EAE-A7B8-484EB866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44FD3-B3A8-4ECC-BFCF-C4CE7830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67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Costruzione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62C91-D1E5-442F-AE6E-A4070F8D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Letteratura, interviste ed expert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0D91B-1C50-40CA-AB9C-F6686D00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DB4D0-1CE8-44DD-97ED-E7FDD2A0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EA1B1-CCB6-451B-84B0-CA2009DF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67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Pilota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5F097-EA2F-4C85-990D-0FD3ACCF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908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Comprensibilità, affidabilità e validità convergente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34733-AB6A-48EB-BC86-E8F8A257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F5D85-FD2A-44A8-8E0E-A5DD6ED5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40C75-ED55-4C16-B8B7-5D33E8CA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67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6F729-5AB6-4520-A7E9-00A7C4E3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908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Associazioni con WAI, OQ-45, BDI-II e BAI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C5A89-8538-4E92-998D-7CCFF70C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BB5D4-9209-4798-8D94-5B006EB1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9A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79A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A4F11-9046-47B3-8821-E9AB8FEA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67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Servizi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314BA-3F1F-4D4E-8565-18E97FD6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908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Focus group su utilità, barriere e sostenibilità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76304-E4F0-4DC7-9E47-04EC0E46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38750"/>
            <a:ext cx="981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6EC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2E647D-4932-4CE0-9FE2-1616B65B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Disegno osservazionale: le associazioni non saranno interpretate come relazioni causali.</a:t>
            </a:r>
          </a:p>
        </p:txBody>
      </p:sp>
    </p:spTree>
    <p:extLst>
      <p:ext uri="{BB962C8B-B14F-4D97-AF65-F5344CB8AC3E}">
        <p14:creationId xmlns:p14="http://schemas.microsoft.com/office/powerpoint/2010/main" val="2589738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BEA9D2-BF65-435B-8E03-35ADC1FB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489CA-3FDA-4E08-ABB9-2178AC75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METODO, ETICA E RISCHI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A9C4E-74D4-4EE5-B690-3CA5EAC1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qualità scientifica dipende da ciò che viene fissato prima e tracciato dopo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E4E95-B04A-4637-9F1C-95F6311D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2B254-817C-4383-A7FA-5DB9EABB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9C5A2-27E5-45A0-A8C3-8ECD03DB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PRIMA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1A575-FE25-4A53-A553-E49BFC3E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Preregistrazione di protocollo, ipotesi primaria e piano di analisi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96649-E136-4938-9EFF-2F11F9E9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DURANTE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69D8A-BA7A-466A-99E0-1F74002B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38375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Versioni, parametri, prompt, fonti recuperate e output registrati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D0346-0A84-4C4E-A551-F970FB75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DOPO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13480-359F-46FE-AB6C-D69AE83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Effetti misti, effect size, intervalli di confidenza e analisi di sensibilità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0ACBF-BDEE-4FAF-89AD-CABCFFBE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517C3-061D-4FCC-BFE9-C70BAE39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GARANZIE ETICHE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E9710-0DD1-4FA3-A040-A7518C56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Responsabilità clinica umana · approvazione etica · pseudonimizzazione · minimizzazione del dato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BCC1A-2205-4845-8C99-DC8CC294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Rischi: reclutamento, obsolescenza dei modelli, prestazioni locali. Mitigazioni: multicentro, benchmark indipendenti dal modello, configurazione minima riproducibile.</a:t>
            </a:r>
          </a:p>
        </p:txBody>
      </p:sp>
    </p:spTree>
    <p:extLst>
      <p:ext uri="{BB962C8B-B14F-4D97-AF65-F5344CB8AC3E}">
        <p14:creationId xmlns:p14="http://schemas.microsoft.com/office/powerpoint/2010/main" val="3347293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DD1887-CF46-4C05-8291-C5B8CCC0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87AEF-F24B-4001-929C-BC5F9795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CRONOPROGRAMMA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BD0B4-FD08-48B5-A8B4-6F4EA83D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Il cronoprogramma lega ogni fase a un risultato verificabile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00C34-7B4D-4DFF-BAC0-FFFAC2C4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CF30E-DAE1-470B-A48A-51681310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3217F-5C58-4088-87A7-E2B8C957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4B31A-6893-43D6-8A75-845F670E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143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E6656-27AA-4A86-B5B7-7AC79E73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ANNO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13856-4B13-434C-AD67-F25250D0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Protocollo e pilota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844AF-E56F-4AC6-8CF2-FD3E3A36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Architettura e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8CC38-EC48-422C-8F53-13BF567B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3143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68821-2D89-4D7F-9354-FD87EAC5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ANNO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3BE4E-59AD-4790-A643-3C2CF765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Studio cross-over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2C963-7792-4AF6-9715-BC071154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Digital Anamnesis e analisi intermedia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AC0E0-CC49-4761-B8CB-5D52BCB7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3143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6033A-FD47-4C33-A4D3-FEB55E91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ANNO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A6C8D-FD6B-42D6-83F3-BE309DD4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Focus group e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98356-1E18-41CA-A1D9-6E27F861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528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Analisi finale, tesi e pubblicazioni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A271E-E9C7-41A1-B0D1-B60ED172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Ogni anno produce un output autonomamente verificabile e prepara la fase successiva.</a:t>
            </a:r>
          </a:p>
        </p:txBody>
      </p:sp>
    </p:spTree>
    <p:extLst>
      <p:ext uri="{BB962C8B-B14F-4D97-AF65-F5344CB8AC3E}">
        <p14:creationId xmlns:p14="http://schemas.microsoft.com/office/powerpoint/2010/main" val="4960033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5F7AB1-BAEC-44E6-AA05-246395B1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424AB-3B7A-4FBB-841B-D23C2915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ORIGINALITÀ E RISULTATI ATTESI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51659-9757-4B73-B167-A1E73BB0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Nessuna diagnosi automatica, ma un "coltellino svizzero" per il clinico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DD501-721A-44A2-80CC-EA7AC12F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18281-AB6F-4725-8B1B-B37F4E64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305B1-90FC-4334-95CE-3A591982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SCIENTIFICO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C27CB-51EE-4F11-A94D-1A4D7EE7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Misura della qualità del ragionamento differenziale nei casi di confine.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AFBC5-1D6D-4D9A-AEBF-257C1E68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F4088-6B3B-4ECD-9ADB-6CB1D81A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CLINICO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AE0EE-C80D-4D2F-9C93-5D7786C7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621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Supporto alle sedute per definire percorsi terapeutici mirati e benessere.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C6A36-0F74-4C53-A9E0-12A02A98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369D5-5F5F-4D2C-AF08-59A2146D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TECNOLOGICO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AA896-B7A3-4BD5-8D33-5D6BE428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Architettura locale e benchmark riproducibili per modelli a risorse limitate.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95CDD-044A-445A-A52A-6D8E2566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A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79A3B"/>
                </a:solidFill>
                <a:latin typeface="Aptos"/>
                <a:ea typeface="Aptos"/>
                <a:cs typeface="Aptos"/>
              </a:rPr>
              <a:t>ORGANIZZATIVO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E1914-141B-4C67-9848-BB2FBB8F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Linee guida e matrice dei rischi per i servizi di salute mentale.</a:t>
            </a:r>
          </a:p>
        </p:txBody>
      </p:sp>
    </p:spTree>
    <p:extLst>
      <p:ext uri="{BB962C8B-B14F-4D97-AF65-F5344CB8AC3E}">
        <p14:creationId xmlns:p14="http://schemas.microsoft.com/office/powerpoint/2010/main" val="13966670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FE812-769D-4A8E-A803-3858C4D4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3FB38-FD9D-444D-9541-7081FA56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COERENZA DEL PERCORSO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7841A-C880-4FE4-BF39-3A24FED9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Perché questo progetto, perché questo dottorato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7050A-7945-448A-B977-735D27C5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A3A0B-FC11-422D-8988-9CCDEA03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EAEE7-C6D5-43D1-9307-C95D46B8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0C966-E9F0-488F-9B4B-830258D7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C0B5A-2668-4EDA-B1B4-BECE56E8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Una linea di ricerca già avviata su RAG e ICD-11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B31C8-0078-4CE1-B225-C58AAB27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9D17D-2DB3-4A73-AD21-E626192C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3278F-C170-4222-A9E1-2025F059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193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Una piattaforma clinician-facing da trasformare in infrastruttura scientifica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7F0C8-1C38-4BB7-8BAE-C4F5DF78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562D7-65B1-4557-BAC2-30EB5048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1F0E7-442E-4F6A-9BA5-B2886539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Un problema che richiede insieme informatica, psicopatologia e governance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0D936-906B-471C-8B27-F616D4DB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5E5F1-AAAB-41E7-8AC5-53822C7A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Obiettivo: produrre conoscenza verificabile su quando, come e con quali limiti l’IA può sostenere il ragionamento clinico.</a:t>
            </a:r>
          </a:p>
        </p:txBody>
      </p:sp>
    </p:spTree>
    <p:extLst>
      <p:ext uri="{BB962C8B-B14F-4D97-AF65-F5344CB8AC3E}">
        <p14:creationId xmlns:p14="http://schemas.microsoft.com/office/powerpoint/2010/main" val="1224357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2026-07-12T22:08:34.1930000Z</dcterms:created>
  <dcterms:modified xsi:type="dcterms:W3CDTF">2026-07-12T22:08:34.1940000Z</dcterms:modified>
</coreProperties>
</file>